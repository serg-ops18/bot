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7977" y="253644"/>
            <a:ext cx="3690736" cy="243646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88729" y="651641"/>
            <a:ext cx="3582261" cy="3558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1085985" y="1196341"/>
            <a:ext cx="3585005" cy="203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2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 для контекстной генерации текста на цепях Маркова
</a:t>
            </a:r>
            <a:endParaRPr lang="en-US" sz="3421" dirty="0"/>
          </a:p>
        </p:txBody>
      </p:sp>
      <p:sp>
        <p:nvSpPr>
          <p:cNvPr id="6" name="Text 2"/>
          <p:cNvSpPr txBox="1"/>
          <p:nvPr/>
        </p:nvSpPr>
        <p:spPr>
          <a:xfrm>
            <a:off x="5327650" y="2837051"/>
            <a:ext cx="3421063" cy="1529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Стохастическая генерация текста в Telegram-боте: теория, реализация, качество.
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D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743" y="1245327"/>
            <a:ext cx="3101907" cy="3205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398525" y="399850"/>
            <a:ext cx="6621600" cy="38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этот подход востребован
</a:t>
            </a:r>
            <a:endParaRPr lang="en-US" sz="2800" dirty="0"/>
          </a:p>
        </p:txBody>
      </p:sp>
      <p:sp>
        <p:nvSpPr>
          <p:cNvPr id="7" name="Text 1"/>
          <p:cNvSpPr txBox="1"/>
          <p:nvPr/>
        </p:nvSpPr>
        <p:spPr>
          <a:xfrm>
            <a:off x="3851275" y="2009067"/>
            <a:ext cx="4678128" cy="157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 — удобная среда для автоматизации, а цепи Маркова позволяют быстро создавать связный текст без тяжелых моделей. Такой бот подходит для прототипов, учебных демонстраций, игр и легких контент-инструментов.
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8435340" y="4482077"/>
            <a:ext cx="326431" cy="166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84466"/>
            <a:ext cx="8503920" cy="157787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0"/>
          <p:cNvSpPr txBox="1"/>
          <p:nvPr/>
        </p:nvSpPr>
        <p:spPr>
          <a:xfrm>
            <a:off x="395300" y="399850"/>
            <a:ext cx="6618600" cy="38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382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 стохастической генерации
</a:t>
            </a:r>
            <a:endParaRPr lang="en-US" sz="2382" dirty="0"/>
          </a:p>
        </p:txBody>
      </p:sp>
      <p:sp>
        <p:nvSpPr>
          <p:cNvPr id="11" name="Text 1"/>
          <p:cNvSpPr txBox="1"/>
          <p:nvPr/>
        </p:nvSpPr>
        <p:spPr>
          <a:xfrm>
            <a:off x="535600" y="1446194"/>
            <a:ext cx="1664921" cy="137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1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как состояние
</a:t>
            </a:r>
            <a:pPr algn="l" indent="0" marL="0">
              <a:lnSpc>
                <a:spcPct val="100000"/>
              </a:lnSpc>
              <a:buNone/>
            </a:pPr>
            <a:r>
              <a:rPr lang="en-US" sz="46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2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98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Следующее слово выбирается по вероятности, рассчитанной из предыдущих токенов. Обычно достаточно одного, двух или трех слов контекста, чтобы получить простую, но управляемую модель переходов.
</a:t>
            </a:r>
            <a:endParaRPr lang="en-US" sz="1121" dirty="0"/>
          </a:p>
        </p:txBody>
      </p:sp>
      <p:sp>
        <p:nvSpPr>
          <p:cNvPr id="12" name="Text 2"/>
          <p:cNvSpPr txBox="1"/>
          <p:nvPr/>
        </p:nvSpPr>
        <p:spPr>
          <a:xfrm>
            <a:off x="2684440" y="1446195"/>
            <a:ext cx="1664921" cy="137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корпуса
</a:t>
            </a:r>
            <a:pPr algn="l" indent="0" marL="0">
              <a:lnSpc>
                <a:spcPct val="100000"/>
              </a:lnSpc>
              <a:buNone/>
            </a:pPr>
            <a:r>
              <a:rPr lang="en-US" sz="48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29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01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Исходный текст преобразуется в словарь, а затем в частотные таблицы переходов. Для каждой последовательности фиксируется, какие слова встречаются после нее и как часто это происходит.
</a:t>
            </a:r>
            <a:endParaRPr lang="en-US" sz="1164" dirty="0"/>
          </a:p>
        </p:txBody>
      </p:sp>
      <p:sp>
        <p:nvSpPr>
          <p:cNvPr id="13" name="Text 3"/>
          <p:cNvSpPr txBox="1"/>
          <p:nvPr/>
        </p:nvSpPr>
        <p:spPr>
          <a:xfrm>
            <a:off x="4795180" y="1446194"/>
            <a:ext cx="1664921" cy="137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генерации
</a:t>
            </a:r>
            <a:pPr algn="l" indent="0" marL="0">
              <a:lnSpc>
                <a:spcPct val="100000"/>
              </a:lnSpc>
              <a:buNone/>
            </a:pPr>
            <a:r>
              <a:rPr lang="en-US" sz="1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56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99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начинается с маркера начала предложения. Далее бот выбирает следующее слово из распределения вероятностей, обновляет состояние и повторяет шаг, пока не встретит маркер конца.
</a:t>
            </a:r>
            <a:endParaRPr lang="en-US" sz="1138" dirty="0"/>
          </a:p>
        </p:txBody>
      </p:sp>
      <p:sp>
        <p:nvSpPr>
          <p:cNvPr id="14" name="Text 4"/>
          <p:cNvSpPr txBox="1"/>
          <p:nvPr/>
        </p:nvSpPr>
        <p:spPr>
          <a:xfrm>
            <a:off x="6928780" y="1446194"/>
            <a:ext cx="1664921" cy="137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завершения
</a:t>
            </a:r>
            <a:pPr algn="l" indent="0" marL="0">
              <a:lnSpc>
                <a:spcPct val="100000"/>
              </a:lnSpc>
              <a:buNone/>
            </a:pPr>
            <a:r>
              <a:rPr lang="en-US" sz="19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59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03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текст не обрывался и не зацикливался, добавляют ограничения на длину, фильтруют редкие переходы и проверяют, достигнут ли конечный маркер или допустимый лимит шага.
</a:t>
            </a:r>
            <a:endParaRPr lang="en-US" sz="1185" dirty="0"/>
          </a:p>
        </p:txBody>
      </p:sp>
      <p:sp>
        <p:nvSpPr>
          <p:cNvPr id="15" name="Text 5"/>
          <p:cNvSpPr txBox="1"/>
          <p:nvPr/>
        </p:nvSpPr>
        <p:spPr>
          <a:xfrm>
            <a:off x="8435340" y="4482077"/>
            <a:ext cx="326431" cy="166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56" y="1754181"/>
            <a:ext cx="7954527" cy="233396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98425" y="397625"/>
            <a:ext cx="6621600" cy="941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 обработки запроса в Telegram-боте
</a:t>
            </a:r>
            <a:pPr algn="l" indent="0" marL="0">
              <a:lnSpc>
                <a:spcPct val="90000"/>
              </a:lnSpc>
              <a:buNone/>
            </a:pPr>
            <a:r>
              <a:rPr lang="en-US" sz="25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90000"/>
              </a:lnSpc>
              <a:buNone/>
            </a:pPr>
            <a:r>
              <a:rPr lang="en-US" sz="1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показывает путь сообщения от пользователя до готового ответа и журнала запросов.
</a:t>
            </a:r>
            <a:endParaRPr lang="en-US" sz="2510" dirty="0"/>
          </a:p>
        </p:txBody>
      </p:sp>
      <p:sp>
        <p:nvSpPr>
          <p:cNvPr id="6" name="Text 1"/>
          <p:cNvSpPr txBox="1"/>
          <p:nvPr/>
        </p:nvSpPr>
        <p:spPr>
          <a:xfrm>
            <a:off x="8435340" y="4482077"/>
            <a:ext cx="326431" cy="166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721" y="1996159"/>
            <a:ext cx="4724400" cy="128531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384645" y="4055250"/>
            <a:ext cx="3071400" cy="6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34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Двухграммная модель обычно дает лучший баланс. Трехграммная повышает локальную связность, но быстрее сталкивается с разреженностью и тупиками.
</a:t>
            </a:r>
            <a:endParaRPr lang="en-US" sz="1100" dirty="0"/>
          </a:p>
        </p:txBody>
      </p:sp>
      <p:sp>
        <p:nvSpPr>
          <p:cNvPr id="7" name="Text 1"/>
          <p:cNvSpPr txBox="1"/>
          <p:nvPr/>
        </p:nvSpPr>
        <p:spPr>
          <a:xfrm>
            <a:off x="3670771" y="941092"/>
            <a:ext cx="4102200" cy="33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34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свойств n-граммных моделей генерации текста
</a:t>
            </a:r>
            <a:endParaRPr lang="en-US" sz="1100" dirty="0"/>
          </a:p>
        </p:txBody>
      </p:sp>
      <p:sp>
        <p:nvSpPr>
          <p:cNvPr id="8" name="Text 2"/>
          <p:cNvSpPr txBox="1"/>
          <p:nvPr/>
        </p:nvSpPr>
        <p:spPr>
          <a:xfrm>
            <a:off x="533152" y="1457473"/>
            <a:ext cx="2768100" cy="23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показывает, как рост длины контекста влияет на качество, ресурсы и разнообразие текста.
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395850" y="399850"/>
            <a:ext cx="6624000" cy="38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n-граммных моделей
</a:t>
            </a:r>
            <a:endParaRPr lang="en-US" sz="2800" dirty="0"/>
          </a:p>
        </p:txBody>
      </p:sp>
      <p:sp>
        <p:nvSpPr>
          <p:cNvPr id="10" name="Text 4"/>
          <p:cNvSpPr txBox="1"/>
          <p:nvPr/>
        </p:nvSpPr>
        <p:spPr>
          <a:xfrm>
            <a:off x="8435340" y="4482077"/>
            <a:ext cx="326431" cy="166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528" y="1081020"/>
            <a:ext cx="2809267" cy="3765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0"/>
          <p:cNvSpPr txBox="1"/>
          <p:nvPr/>
        </p:nvSpPr>
        <p:spPr>
          <a:xfrm>
            <a:off x="396650" y="399850"/>
            <a:ext cx="6617100" cy="38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корпуса и очистка данных
</a:t>
            </a:r>
            <a:endParaRPr lang="en-US" sz="2726" dirty="0"/>
          </a:p>
        </p:txBody>
      </p:sp>
      <p:sp>
        <p:nvSpPr>
          <p:cNvPr id="11" name="Text 1"/>
          <p:cNvSpPr txBox="1"/>
          <p:nvPr/>
        </p:nvSpPr>
        <p:spPr>
          <a:xfrm>
            <a:off x="535600" y="1453375"/>
            <a:ext cx="2309700" cy="12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источников
</a:t>
            </a:r>
            <a:pPr algn="l" indent="0" marL="0">
              <a:lnSpc>
                <a:spcPct val="100000"/>
              </a:lnSpc>
              <a:buNone/>
            </a:pPr>
            <a:r>
              <a:rPr lang="en-US" sz="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 корпус можно включать сообщения, статьи или тематические подборки текста. Важно заранее определить стиль и область, чтобы переходы отражали нужную лексику и структуру предложений.
</a:t>
            </a:r>
            <a:endParaRPr lang="en-US" sz="1000" dirty="0"/>
          </a:p>
        </p:txBody>
      </p:sp>
      <p:sp>
        <p:nvSpPr>
          <p:cNvPr id="12" name="Text 2"/>
          <p:cNvSpPr txBox="1"/>
          <p:nvPr/>
        </p:nvSpPr>
        <p:spPr>
          <a:xfrm>
            <a:off x="3375022" y="1453375"/>
            <a:ext cx="2309700" cy="12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и нормализация
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 текста удаляют HTML-разметку, эмодзи, служебные символы и дубликаты. Затем приводят регистр к единому виду, чтобы одинаковые слова не дробили статистику переходов.
</a:t>
            </a:r>
            <a:endParaRPr lang="en-US" sz="1000" dirty="0"/>
          </a:p>
        </p:txBody>
      </p:sp>
      <p:sp>
        <p:nvSpPr>
          <p:cNvPr id="13" name="Text 3"/>
          <p:cNvSpPr txBox="1"/>
          <p:nvPr/>
        </p:nvSpPr>
        <p:spPr>
          <a:xfrm>
            <a:off x="543549" y="3317250"/>
            <a:ext cx="2335500" cy="12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Токенизация и лемматизация
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разбиения на токены выполняют лемматизацию, если она уместна для языка и задачи. Это снижает размер словаря и помогает объединять близкие формы одного слова.
</a:t>
            </a:r>
            <a:endParaRPr lang="en-US" sz="1000" dirty="0"/>
          </a:p>
        </p:txBody>
      </p:sp>
      <p:sp>
        <p:nvSpPr>
          <p:cNvPr id="14" name="Text 4"/>
          <p:cNvSpPr txBox="1"/>
          <p:nvPr/>
        </p:nvSpPr>
        <p:spPr>
          <a:xfrm>
            <a:off x="3381554" y="3321950"/>
            <a:ext cx="2335500" cy="12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на предложения
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шаг — сегментация на предложения и построение таблицы переходов. Именно эта структура становится основой для вероятностного выбора следующего токена при генерации ответа.
</a:t>
            </a:r>
            <a:endParaRPr lang="en-US" sz="1000" dirty="0"/>
          </a:p>
        </p:txBody>
      </p:sp>
      <p:sp>
        <p:nvSpPr>
          <p:cNvPr id="15" name="Text 5"/>
          <p:cNvSpPr txBox="1"/>
          <p:nvPr/>
        </p:nvSpPr>
        <p:spPr>
          <a:xfrm>
            <a:off x="8435340" y="4482077"/>
            <a:ext cx="326431" cy="166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900" y="1276393"/>
            <a:ext cx="4936500" cy="266361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31800" y="4513200"/>
            <a:ext cx="3071400" cy="33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Иллюстративное сравнение метрик для разных n-граммных моделей
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390875" y="397625"/>
            <a:ext cx="6629100" cy="38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 генерации
</a:t>
            </a:r>
            <a:endParaRPr lang="en-US" sz="2800" dirty="0"/>
          </a:p>
        </p:txBody>
      </p:sp>
      <p:sp>
        <p:nvSpPr>
          <p:cNvPr id="7" name="Text 2"/>
          <p:cNvSpPr txBox="1"/>
          <p:nvPr/>
        </p:nvSpPr>
        <p:spPr>
          <a:xfrm>
            <a:off x="647700" y="1518533"/>
            <a:ext cx="2584247" cy="2662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проводится на одинаковом наборе запросов, чтобы сравнение разных n было корректным и воспроизводимым.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3671888" y="4165341"/>
            <a:ext cx="3358200" cy="690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734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n улучшает связность до определенного предела, но увеличивает риск разреженности и сокращает разнообразие выхода.
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8435340" y="4482077"/>
            <a:ext cx="326431" cy="166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3128035"/>
            <a:ext cx="8582025" cy="165941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 0"/>
          <p:cNvSpPr txBox="1"/>
          <p:nvPr/>
        </p:nvSpPr>
        <p:spPr>
          <a:xfrm>
            <a:off x="403662" y="409922"/>
            <a:ext cx="6624600" cy="38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и риски модели
</a:t>
            </a:r>
            <a:endParaRPr lang="en-US" sz="2800" dirty="0"/>
          </a:p>
        </p:txBody>
      </p:sp>
      <p:sp>
        <p:nvSpPr>
          <p:cNvPr id="10" name="Text 1"/>
          <p:cNvSpPr txBox="1"/>
          <p:nvPr/>
        </p:nvSpPr>
        <p:spPr>
          <a:xfrm>
            <a:off x="8435340" y="4482077"/>
            <a:ext cx="326431" cy="166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1" name="Text 2"/>
          <p:cNvSpPr txBox="1"/>
          <p:nvPr/>
        </p:nvSpPr>
        <p:spPr>
          <a:xfrm>
            <a:off x="607915" y="1274858"/>
            <a:ext cx="1704035" cy="1664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Локальная память
</a:t>
            </a:r>
            <a:pPr algn="l" indent="0" marL="0">
              <a:lnSpc>
                <a:spcPct val="100000"/>
              </a:lnSpc>
              <a:buNone/>
            </a:pPr>
            <a:r>
              <a:rPr lang="en-US" sz="37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46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11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Цепи Маркова опираются на ближайший контекст и почти не удерживают дальние зависимости. Из-за этого сложные фразы, ссылки на предыдущие мысли и логика абзаца могут теряться.
</a:t>
            </a:r>
            <a:endParaRPr lang="en-US" sz="1304" dirty="0"/>
          </a:p>
        </p:txBody>
      </p:sp>
      <p:sp>
        <p:nvSpPr>
          <p:cNvPr id="12" name="Text 3"/>
          <p:cNvSpPr txBox="1"/>
          <p:nvPr/>
        </p:nvSpPr>
        <p:spPr>
          <a:xfrm>
            <a:off x="2758307" y="1274858"/>
            <a:ext cx="1704035" cy="1664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Повторы и зацикливание
</a:t>
            </a:r>
            <a:pPr algn="l" indent="0" marL="0">
              <a:lnSpc>
                <a:spcPct val="100000"/>
              </a:lnSpc>
              <a:buNone/>
            </a:pPr>
            <a:r>
              <a:rPr lang="en-US" sz="36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4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08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 небольшом корпусе модель быстро начинает повторять одинаковые конструкции и слова. Если данных мало, генерация выглядит однообразной и иногда застревает в коротких петлях.
</a:t>
            </a:r>
            <a:endParaRPr lang="en-US" sz="1265" dirty="0"/>
          </a:p>
        </p:txBody>
      </p:sp>
      <p:sp>
        <p:nvSpPr>
          <p:cNvPr id="13" name="Text 4"/>
          <p:cNvSpPr txBox="1"/>
          <p:nvPr/>
        </p:nvSpPr>
        <p:spPr>
          <a:xfrm>
            <a:off x="4908699" y="1274858"/>
            <a:ext cx="1704035" cy="1664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9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Разреженность переходов
</a:t>
            </a:r>
            <a:pPr algn="l" indent="0" marL="0">
              <a:lnSpc>
                <a:spcPct val="100000"/>
              </a:lnSpc>
              <a:buNone/>
            </a:pPr>
            <a:r>
              <a:rPr lang="en-US" sz="33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4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00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 ростом n количество возможных последовательностей резко увеличивается, а частоты переходов становятся редкими. Это повышает вероятность тупиков, обрывов фразы и нестабильного выбора слов.
</a:t>
            </a:r>
            <a:endParaRPr lang="en-US" sz="1169" dirty="0"/>
          </a:p>
        </p:txBody>
      </p:sp>
      <p:sp>
        <p:nvSpPr>
          <p:cNvPr id="14" name="Text 5"/>
          <p:cNvSpPr txBox="1"/>
          <p:nvPr/>
        </p:nvSpPr>
        <p:spPr>
          <a:xfrm>
            <a:off x="7059092" y="1274858"/>
            <a:ext cx="1704035" cy="1664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Слабый контроль стиля
</a:t>
            </a:r>
            <a:pPr algn="l" indent="0" marL="0">
              <a:lnSpc>
                <a:spcPct val="100000"/>
              </a:lnSpc>
              <a:buNone/>
            </a:pPr>
            <a:r>
              <a:rPr lang="en-US" sz="36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45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0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 дополнительных правил модель плохо удерживает заданный тон, формат и тематическое направление. Ошибки токенизации и тематический дрейф усиливают случайность результата.
</a:t>
            </a:r>
            <a:endParaRPr lang="en-US" sz="126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85" y="1160879"/>
            <a:ext cx="400561" cy="45778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6020" y="1160879"/>
            <a:ext cx="400501" cy="45771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5753" y="1175618"/>
            <a:ext cx="481766" cy="42823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9869" y="1160879"/>
            <a:ext cx="457715" cy="45771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ext 0"/>
          <p:cNvSpPr txBox="1"/>
          <p:nvPr/>
        </p:nvSpPr>
        <p:spPr>
          <a:xfrm>
            <a:off x="390650" y="397625"/>
            <a:ext cx="6629400" cy="38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589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реализация Telegram-бота
</a:t>
            </a:r>
            <a:endParaRPr lang="en-US" sz="2589" dirty="0"/>
          </a:p>
        </p:txBody>
      </p:sp>
      <p:sp>
        <p:nvSpPr>
          <p:cNvPr id="16" name="Text 1"/>
          <p:cNvSpPr txBox="1"/>
          <p:nvPr/>
        </p:nvSpPr>
        <p:spPr>
          <a:xfrm>
            <a:off x="630334" y="1848168"/>
            <a:ext cx="1574059" cy="235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на Python
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бота обычно реализуется на Python с библиотеками для работы с Telegram Bot API и обработкой текста. Это упрощает разработку, тестирование и расширение функциональности.
</a:t>
            </a:r>
            <a:endParaRPr lang="en-US" sz="1300" dirty="0"/>
          </a:p>
        </p:txBody>
      </p:sp>
      <p:sp>
        <p:nvSpPr>
          <p:cNvPr id="17" name="Text 2"/>
          <p:cNvSpPr txBox="1"/>
          <p:nvPr/>
        </p:nvSpPr>
        <p:spPr>
          <a:xfrm>
            <a:off x="2755444" y="1848168"/>
            <a:ext cx="1574059" cy="235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 переходов
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переходов можно сохранять в JSON, SQLite или Redis. Выбор зависит от объема корпуса, требований к скорости и необходимости быстрого обновления модели.
</a:t>
            </a:r>
            <a:endParaRPr lang="en-US" sz="1300" dirty="0"/>
          </a:p>
        </p:txBody>
      </p:sp>
      <p:sp>
        <p:nvSpPr>
          <p:cNvPr id="18" name="Text 3"/>
          <p:cNvSpPr txBox="1"/>
          <p:nvPr/>
        </p:nvSpPr>
        <p:spPr>
          <a:xfrm>
            <a:off x="4880554" y="1848168"/>
            <a:ext cx="1574059" cy="235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 управления
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набор включает /start, /generate и /help. Дополнительно можно передавать длину ответа, тему генерации и параметры выбора, чтобы сделать поведение бота гибче.
</a:t>
            </a:r>
            <a:endParaRPr lang="en-US" sz="1300" dirty="0"/>
          </a:p>
        </p:txBody>
      </p:sp>
      <p:sp>
        <p:nvSpPr>
          <p:cNvPr id="19" name="Text 4"/>
          <p:cNvSpPr txBox="1"/>
          <p:nvPr/>
        </p:nvSpPr>
        <p:spPr>
          <a:xfrm>
            <a:off x="6989644" y="1848168"/>
            <a:ext cx="1574059" cy="235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генерации
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0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Полезно предусмотреть ограничение длины, фильтрацию редких переходов и настройку температуры выбора. Эти параметры помогают балансировать между разнообразием текста и его устойчивостью.
</a:t>
            </a:r>
            <a:endParaRPr lang="en-US" sz="1300" dirty="0"/>
          </a:p>
        </p:txBody>
      </p:sp>
      <p:sp>
        <p:nvSpPr>
          <p:cNvPr id="20" name="Text 5"/>
          <p:cNvSpPr txBox="1"/>
          <p:nvPr/>
        </p:nvSpPr>
        <p:spPr>
          <a:xfrm>
            <a:off x="8435340" y="4482077"/>
            <a:ext cx="326431" cy="166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483941"/>
            <a:ext cx="8031600" cy="160004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242536" y="2216005"/>
            <a:ext cx="3566100" cy="2038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и понятная генерация текста
</a:t>
            </a:r>
            <a:endParaRPr lang="en-US" sz="3600" dirty="0"/>
          </a:p>
        </p:txBody>
      </p:sp>
      <p:sp>
        <p:nvSpPr>
          <p:cNvPr id="7" name="Text 1"/>
          <p:cNvSpPr txBox="1"/>
          <p:nvPr/>
        </p:nvSpPr>
        <p:spPr>
          <a:xfrm>
            <a:off x="5327650" y="2724316"/>
            <a:ext cx="3456300" cy="1529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 на цепях Маркова дает прозрачный, легкий и быстрый механизм генерации текста. Его ценность — в простоте запуска, автономности и хорошем потенциале для дальнейшего гибридного развития.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2026-05-30T13:27:12Z</dcterms:created>
  <dcterms:modified xsi:type="dcterms:W3CDTF">2026-05-30T13:27:12Z</dcterms:modified>
</cp:coreProperties>
</file>